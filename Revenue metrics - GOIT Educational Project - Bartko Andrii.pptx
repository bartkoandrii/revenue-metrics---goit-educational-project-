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Lobster"/>
      <p:regular r:id="rId20"/>
    </p:embeddedFont>
    <p:embeddedFont>
      <p:font typeface="Montserrat Black"/>
      <p:bold r:id="rId21"/>
      <p:boldItalic r:id="rId22"/>
    </p:embeddedFont>
    <p:embeddedFont>
      <p:font typeface="Montserrat ExtraBold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bster-regular.fntdata"/><Relationship Id="rId11" Type="http://schemas.openxmlformats.org/officeDocument/2006/relationships/slide" Target="slides/slide6.xml"/><Relationship Id="rId22" Type="http://schemas.openxmlformats.org/officeDocument/2006/relationships/font" Target="fonts/MontserratBlack-bold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Black-bold.fntdata"/><Relationship Id="rId13" Type="http://schemas.openxmlformats.org/officeDocument/2006/relationships/slide" Target="slides/slide8.xml"/><Relationship Id="rId24" Type="http://schemas.openxmlformats.org/officeDocument/2006/relationships/font" Target="fonts/MontserratExtraBold-boldItalic.fntdata"/><Relationship Id="rId12" Type="http://schemas.openxmlformats.org/officeDocument/2006/relationships/slide" Target="slides/slide7.xml"/><Relationship Id="rId23" Type="http://schemas.openxmlformats.org/officeDocument/2006/relationships/font" Target="fonts/Montserrat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1b3b88c0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1b3b88c0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1b3b88c0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1b3b88c0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1b3b88c0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1b3b88c0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1b3b88c0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1b3b88c0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1b3b88c0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1b3b88c0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1b3b88c05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1b3b88c05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1b3b88c0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1b3b88c0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1b3b88c05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1b3b88c05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1b3b88c0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1b3b88c0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5.xml"/><Relationship Id="rId10" Type="http://schemas.openxmlformats.org/officeDocument/2006/relationships/slide" Target="/ppt/slides/slide4.xml"/><Relationship Id="rId13" Type="http://schemas.openxmlformats.org/officeDocument/2006/relationships/slide" Target="/ppt/slides/slide7.xml"/><Relationship Id="rId12" Type="http://schemas.openxmlformats.org/officeDocument/2006/relationships/hyperlink" Target="https://public.tableau.com/views/GOITEducationalProject-BartkoAndrii/INSIGHTSBYTHEAGE?:language=en-US&amp;:sid=&amp;:redirect=auth&amp;:display_count=n&amp;:origin=viz_share_link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3.xml"/><Relationship Id="rId9" Type="http://schemas.openxmlformats.org/officeDocument/2006/relationships/image" Target="../media/image3.png"/><Relationship Id="rId15" Type="http://schemas.openxmlformats.org/officeDocument/2006/relationships/slide" Target="/ppt/slides/slide9.xml"/><Relationship Id="rId14" Type="http://schemas.openxmlformats.org/officeDocument/2006/relationships/slide" Target="/ppt/slides/slide8.xml"/><Relationship Id="rId16" Type="http://schemas.openxmlformats.org/officeDocument/2006/relationships/slide" Target="/ppt/slides/slide10.xml"/><Relationship Id="rId5" Type="http://schemas.openxmlformats.org/officeDocument/2006/relationships/slide" Target="/ppt/slides/slide3.xml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625075"/>
            <a:ext cx="5147700" cy="187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00"/>
              <a:buFont typeface="Arial"/>
              <a:buNone/>
            </a:pPr>
            <a:r>
              <a:rPr lang="en-GB" sz="4000">
                <a:solidFill>
                  <a:srgbClr val="43434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Materials for the Data Analytics project:</a:t>
            </a:r>
            <a:endParaRPr sz="4000">
              <a:solidFill>
                <a:srgbClr val="43434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500325"/>
            <a:ext cx="5147700" cy="24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FF6B08"/>
                </a:solidFill>
              </a:rPr>
              <a:t>Revenue metrics</a:t>
            </a:r>
            <a:endParaRPr b="1" sz="3000">
              <a:solidFill>
                <a:srgbClr val="FF6B0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FF6B08"/>
                </a:solidFill>
              </a:rPr>
              <a:t>(GOIT Educational Project </a:t>
            </a:r>
            <a:endParaRPr b="1" sz="3000">
              <a:solidFill>
                <a:srgbClr val="FF6B0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FF6B08"/>
                </a:solidFill>
              </a:rPr>
              <a:t>by Bartko Andrii)</a:t>
            </a:r>
            <a:endParaRPr b="1" sz="3000">
              <a:solidFill>
                <a:srgbClr val="FF6B08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21531" l="0" r="0" t="0"/>
          <a:stretch/>
        </p:blipFill>
        <p:spPr>
          <a:xfrm>
            <a:off x="5459400" y="1410800"/>
            <a:ext cx="3450600" cy="3515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051" y="4689550"/>
            <a:ext cx="789525" cy="2364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5459400" y="625075"/>
            <a:ext cx="367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FF"/>
                </a:solidFill>
                <a:highlight>
                  <a:schemeClr val="accent6"/>
                </a:highlight>
                <a:latin typeface="Lobster"/>
                <a:ea typeface="Lobster"/>
                <a:cs typeface="Lobster"/>
                <a:sym typeface="Lobster"/>
              </a:rPr>
              <a:t>The day has come!!!</a:t>
            </a:r>
            <a:endParaRPr sz="2000">
              <a:solidFill>
                <a:srgbClr val="0000FF"/>
              </a:solidFill>
              <a:highlight>
                <a:schemeClr val="accent6"/>
              </a:highlight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/>
              <a:t>ЗМІСТ</a:t>
            </a:r>
            <a:endParaRPr b="1" sz="3000"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930976"/>
            <a:ext cx="8520600" cy="37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	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	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	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	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	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65" name="Google Shape;65;p14"/>
          <p:cNvGrpSpPr/>
          <p:nvPr/>
        </p:nvGrpSpPr>
        <p:grpSpPr>
          <a:xfrm>
            <a:off x="420807" y="1040924"/>
            <a:ext cx="426928" cy="356400"/>
            <a:chOff x="1509900" y="1017325"/>
            <a:chExt cx="797400" cy="648000"/>
          </a:xfrm>
        </p:grpSpPr>
        <p:sp>
          <p:nvSpPr>
            <p:cNvPr id="66" name="Google Shape;66;p14"/>
            <p:cNvSpPr/>
            <p:nvPr/>
          </p:nvSpPr>
          <p:spPr>
            <a:xfrm>
              <a:off x="1509900" y="1017325"/>
              <a:ext cx="797400" cy="648000"/>
            </a:xfrm>
            <a:prstGeom prst="roundRect">
              <a:avLst>
                <a:gd fmla="val 16667" name="adj"/>
              </a:avLst>
            </a:prstGeom>
            <a:solidFill>
              <a:srgbClr val="FF6B08"/>
            </a:solidFill>
            <a:ln>
              <a:noFill/>
            </a:ln>
          </p:spPr>
          <p:txBody>
            <a:bodyPr anchorCtr="0" anchor="ctr" bIns="57250" lIns="57250" spcFirstLastPara="1" rIns="57250" wrap="square" tIns="57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7"/>
                <a:buFont typeface="Arial"/>
                <a:buNone/>
              </a:pPr>
              <a:r>
                <a:t/>
              </a:r>
              <a:endParaRPr b="0" i="0" sz="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1739250" y="1145425"/>
              <a:ext cx="338700" cy="400200"/>
            </a:xfrm>
            <a:prstGeom prst="rect">
              <a:avLst/>
            </a:prstGeom>
            <a:solidFill>
              <a:srgbClr val="FF6B08"/>
            </a:solidFill>
            <a:ln>
              <a:noFill/>
            </a:ln>
          </p:spPr>
          <p:txBody>
            <a:bodyPr anchorCtr="0" anchor="ctr" bIns="57250" lIns="57250" spcFirstLastPara="1" rIns="57250" wrap="square" tIns="57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1"/>
                <a:buFont typeface="Arial"/>
                <a:buNone/>
              </a:pPr>
              <a:r>
                <a:rPr lang="en-GB" sz="1878">
                  <a:solidFill>
                    <a:srgbClr val="FFFFF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-</a:t>
              </a:r>
              <a:endParaRPr b="0" i="0" sz="1878" u="none" cap="none" strike="noStrik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946555" y="1050440"/>
            <a:ext cx="3867434" cy="356400"/>
            <a:chOff x="2417971" y="1093600"/>
            <a:chExt cx="5096104" cy="540000"/>
          </a:xfrm>
        </p:grpSpPr>
        <p:sp>
          <p:nvSpPr>
            <p:cNvPr id="69" name="Google Shape;69;p14"/>
            <p:cNvSpPr/>
            <p:nvPr/>
          </p:nvSpPr>
          <p:spPr>
            <a:xfrm>
              <a:off x="2417975" y="1093600"/>
              <a:ext cx="5096100" cy="540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FF6B0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4"/>
            <p:cNvSpPr txBox="1"/>
            <p:nvPr/>
          </p:nvSpPr>
          <p:spPr>
            <a:xfrm rot="406">
              <a:off x="2417971" y="1095312"/>
              <a:ext cx="5085900" cy="53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sz="1300" u="sng">
                  <a:solidFill>
                    <a:schemeClr val="hlink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action="ppaction://hlinksldjump" r:id="rId3"/>
                </a:rPr>
                <a:t>Description of </a:t>
              </a:r>
              <a:r>
                <a:rPr lang="en-GB" sz="1300" u="sng">
                  <a:solidFill>
                    <a:schemeClr val="accent5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action="ppaction://hlinksldjump"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project </a:t>
              </a:r>
              <a:r>
                <a:rPr lang="en-GB" sz="1300" u="sng">
                  <a:solidFill>
                    <a:schemeClr val="hlink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action="ppaction://hlinksldjump" r:id="rId5"/>
                </a:rPr>
                <a:t>“Revenue metrics”</a:t>
              </a:r>
              <a:endParaRPr b="0" i="0" sz="1300" u="none" cap="none" strike="noStrike"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4813948" y="241000"/>
            <a:ext cx="4095954" cy="5006472"/>
            <a:chOff x="4715475" y="241005"/>
            <a:chExt cx="4194525" cy="5006472"/>
          </a:xfrm>
        </p:grpSpPr>
        <p:pic>
          <p:nvPicPr>
            <p:cNvPr id="72" name="Google Shape;72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15475" y="1435574"/>
              <a:ext cx="4194525" cy="3140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232300" y="241005"/>
              <a:ext cx="530150" cy="55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121675" y="3648375"/>
              <a:ext cx="407324" cy="42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145475" y="1197600"/>
              <a:ext cx="530150" cy="550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1819822">
              <a:off x="4945863" y="578301"/>
              <a:ext cx="1261435" cy="12539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5399325">
              <a:off x="7814755" y="539175"/>
              <a:ext cx="899060" cy="893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1819799">
              <a:off x="6836660" y="4119044"/>
              <a:ext cx="957503" cy="95180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9" name="Google Shape;7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6051" y="4689550"/>
            <a:ext cx="789525" cy="236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14"/>
          <p:cNvGrpSpPr/>
          <p:nvPr/>
        </p:nvGrpSpPr>
        <p:grpSpPr>
          <a:xfrm>
            <a:off x="411282" y="1471529"/>
            <a:ext cx="426928" cy="356400"/>
            <a:chOff x="1509900" y="1017325"/>
            <a:chExt cx="797400" cy="648000"/>
          </a:xfrm>
        </p:grpSpPr>
        <p:sp>
          <p:nvSpPr>
            <p:cNvPr id="81" name="Google Shape;81;p14"/>
            <p:cNvSpPr/>
            <p:nvPr/>
          </p:nvSpPr>
          <p:spPr>
            <a:xfrm>
              <a:off x="1509900" y="1017325"/>
              <a:ext cx="797400" cy="648000"/>
            </a:xfrm>
            <a:prstGeom prst="roundRect">
              <a:avLst>
                <a:gd fmla="val 16667" name="adj"/>
              </a:avLst>
            </a:prstGeom>
            <a:solidFill>
              <a:srgbClr val="FF6B08"/>
            </a:solidFill>
            <a:ln>
              <a:noFill/>
            </a:ln>
          </p:spPr>
          <p:txBody>
            <a:bodyPr anchorCtr="0" anchor="ctr" bIns="57250" lIns="57250" spcFirstLastPara="1" rIns="57250" wrap="square" tIns="57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7"/>
                <a:buFont typeface="Arial"/>
                <a:buNone/>
              </a:pPr>
              <a:r>
                <a:t/>
              </a:r>
              <a:endParaRPr b="0" i="0" sz="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1739250" y="1145425"/>
              <a:ext cx="338700" cy="400200"/>
            </a:xfrm>
            <a:prstGeom prst="rect">
              <a:avLst/>
            </a:prstGeom>
            <a:solidFill>
              <a:srgbClr val="FF6B08"/>
            </a:solidFill>
            <a:ln>
              <a:noFill/>
            </a:ln>
          </p:spPr>
          <p:txBody>
            <a:bodyPr anchorCtr="0" anchor="ctr" bIns="57250" lIns="57250" spcFirstLastPara="1" rIns="57250" wrap="square" tIns="57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1"/>
                <a:buFont typeface="Arial"/>
                <a:buNone/>
              </a:pPr>
              <a:r>
                <a:rPr lang="en-GB" sz="1878">
                  <a:solidFill>
                    <a:srgbClr val="FFFFF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-</a:t>
              </a:r>
              <a:endParaRPr b="0" i="0" sz="1878" u="none" cap="none" strike="noStrik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grpSp>
        <p:nvGrpSpPr>
          <p:cNvPr id="83" name="Google Shape;83;p14"/>
          <p:cNvGrpSpPr/>
          <p:nvPr/>
        </p:nvGrpSpPr>
        <p:grpSpPr>
          <a:xfrm>
            <a:off x="411282" y="1900229"/>
            <a:ext cx="426928" cy="356400"/>
            <a:chOff x="1509900" y="1017325"/>
            <a:chExt cx="797400" cy="648000"/>
          </a:xfrm>
        </p:grpSpPr>
        <p:sp>
          <p:nvSpPr>
            <p:cNvPr id="84" name="Google Shape;84;p14"/>
            <p:cNvSpPr/>
            <p:nvPr/>
          </p:nvSpPr>
          <p:spPr>
            <a:xfrm>
              <a:off x="1509900" y="1017325"/>
              <a:ext cx="797400" cy="648000"/>
            </a:xfrm>
            <a:prstGeom prst="roundRect">
              <a:avLst>
                <a:gd fmla="val 16667" name="adj"/>
              </a:avLst>
            </a:prstGeom>
            <a:solidFill>
              <a:srgbClr val="FF6B08"/>
            </a:solidFill>
            <a:ln>
              <a:noFill/>
            </a:ln>
          </p:spPr>
          <p:txBody>
            <a:bodyPr anchorCtr="0" anchor="ctr" bIns="57250" lIns="57250" spcFirstLastPara="1" rIns="57250" wrap="square" tIns="57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7"/>
                <a:buFont typeface="Arial"/>
                <a:buNone/>
              </a:pPr>
              <a:r>
                <a:t/>
              </a:r>
              <a:endParaRPr b="0" i="0" sz="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 txBox="1"/>
            <p:nvPr/>
          </p:nvSpPr>
          <p:spPr>
            <a:xfrm>
              <a:off x="1739250" y="1145425"/>
              <a:ext cx="338700" cy="400200"/>
            </a:xfrm>
            <a:prstGeom prst="rect">
              <a:avLst/>
            </a:prstGeom>
            <a:solidFill>
              <a:srgbClr val="FF6B08"/>
            </a:solidFill>
            <a:ln>
              <a:noFill/>
            </a:ln>
          </p:spPr>
          <p:txBody>
            <a:bodyPr anchorCtr="0" anchor="ctr" bIns="57250" lIns="57250" spcFirstLastPara="1" rIns="57250" wrap="square" tIns="57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1"/>
                <a:buFont typeface="Arial"/>
                <a:buNone/>
              </a:pPr>
              <a:r>
                <a:rPr lang="en-GB" sz="1878">
                  <a:solidFill>
                    <a:srgbClr val="FFFFF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-</a:t>
              </a:r>
              <a:endParaRPr b="0" i="0" sz="1878" u="none" cap="none" strike="noStrik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grpSp>
        <p:nvGrpSpPr>
          <p:cNvPr id="86" name="Google Shape;86;p14"/>
          <p:cNvGrpSpPr/>
          <p:nvPr/>
        </p:nvGrpSpPr>
        <p:grpSpPr>
          <a:xfrm>
            <a:off x="946578" y="1479138"/>
            <a:ext cx="3867406" cy="356400"/>
            <a:chOff x="2417975" y="1093600"/>
            <a:chExt cx="5120357" cy="540000"/>
          </a:xfrm>
        </p:grpSpPr>
        <p:sp>
          <p:nvSpPr>
            <p:cNvPr id="87" name="Google Shape;87;p14"/>
            <p:cNvSpPr/>
            <p:nvPr/>
          </p:nvSpPr>
          <p:spPr>
            <a:xfrm>
              <a:off x="2417975" y="1093600"/>
              <a:ext cx="5096100" cy="540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FF6B0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 txBox="1"/>
            <p:nvPr/>
          </p:nvSpPr>
          <p:spPr>
            <a:xfrm rot="405">
              <a:off x="2442232" y="1094658"/>
              <a:ext cx="5096100" cy="53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u="sng">
                  <a:solidFill>
                    <a:schemeClr val="hlink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action="ppaction://hlinksldjump" r:id="rId10"/>
                </a:rPr>
                <a:t>Technology stack</a:t>
              </a:r>
              <a:endParaRPr b="0" i="0" u="none" cap="none" strike="noStrike"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89" name="Google Shape;89;p14"/>
          <p:cNvGrpSpPr/>
          <p:nvPr/>
        </p:nvGrpSpPr>
        <p:grpSpPr>
          <a:xfrm>
            <a:off x="946591" y="1907838"/>
            <a:ext cx="3867406" cy="356400"/>
            <a:chOff x="2417975" y="1093600"/>
            <a:chExt cx="5120357" cy="540000"/>
          </a:xfrm>
        </p:grpSpPr>
        <p:sp>
          <p:nvSpPr>
            <p:cNvPr id="90" name="Google Shape;90;p14"/>
            <p:cNvSpPr/>
            <p:nvPr/>
          </p:nvSpPr>
          <p:spPr>
            <a:xfrm>
              <a:off x="2417975" y="1093600"/>
              <a:ext cx="5096100" cy="540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FF6B0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4"/>
            <p:cNvSpPr txBox="1"/>
            <p:nvPr/>
          </p:nvSpPr>
          <p:spPr>
            <a:xfrm rot="405">
              <a:off x="2442232" y="1094658"/>
              <a:ext cx="5096100" cy="53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u="sng">
                  <a:solidFill>
                    <a:schemeClr val="hlink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action="ppaction://hlinksldjump" r:id="rId11"/>
                </a:rPr>
                <a:t>Challenges and solutions</a:t>
              </a:r>
              <a:endParaRPr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92" name="Google Shape;92;p14"/>
          <p:cNvGrpSpPr/>
          <p:nvPr/>
        </p:nvGrpSpPr>
        <p:grpSpPr>
          <a:xfrm>
            <a:off x="946566" y="2344526"/>
            <a:ext cx="3867406" cy="356400"/>
            <a:chOff x="2417975" y="1093600"/>
            <a:chExt cx="5120357" cy="540000"/>
          </a:xfrm>
        </p:grpSpPr>
        <p:sp>
          <p:nvSpPr>
            <p:cNvPr id="93" name="Google Shape;93;p14"/>
            <p:cNvSpPr/>
            <p:nvPr/>
          </p:nvSpPr>
          <p:spPr>
            <a:xfrm>
              <a:off x="2417975" y="1093600"/>
              <a:ext cx="5096100" cy="540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FF6B0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4"/>
            <p:cNvSpPr txBox="1"/>
            <p:nvPr/>
          </p:nvSpPr>
          <p:spPr>
            <a:xfrm rot="405">
              <a:off x="2442232" y="1094658"/>
              <a:ext cx="5096100" cy="53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u="sng">
                  <a:solidFill>
                    <a:schemeClr val="hlink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r:id="rId12"/>
                </a:rPr>
                <a:t>Dashboard “REVENUE METRICS</a:t>
              </a:r>
              <a:r>
                <a:rPr lang="en-GB">
                  <a:solidFill>
                    <a:srgbClr val="0097A7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”</a:t>
              </a:r>
              <a:endParaRPr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95" name="Google Shape;95;p14"/>
          <p:cNvGrpSpPr/>
          <p:nvPr/>
        </p:nvGrpSpPr>
        <p:grpSpPr>
          <a:xfrm>
            <a:off x="411282" y="2336549"/>
            <a:ext cx="426928" cy="356400"/>
            <a:chOff x="1509900" y="1017325"/>
            <a:chExt cx="797400" cy="648000"/>
          </a:xfrm>
        </p:grpSpPr>
        <p:sp>
          <p:nvSpPr>
            <p:cNvPr id="96" name="Google Shape;96;p14"/>
            <p:cNvSpPr/>
            <p:nvPr/>
          </p:nvSpPr>
          <p:spPr>
            <a:xfrm>
              <a:off x="1509900" y="1017325"/>
              <a:ext cx="797400" cy="648000"/>
            </a:xfrm>
            <a:prstGeom prst="roundRect">
              <a:avLst>
                <a:gd fmla="val 16667" name="adj"/>
              </a:avLst>
            </a:prstGeom>
            <a:solidFill>
              <a:srgbClr val="FF6B08"/>
            </a:solidFill>
            <a:ln>
              <a:noFill/>
            </a:ln>
          </p:spPr>
          <p:txBody>
            <a:bodyPr anchorCtr="0" anchor="ctr" bIns="57250" lIns="57250" spcFirstLastPara="1" rIns="57250" wrap="square" tIns="57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7"/>
                <a:buFont typeface="Arial"/>
                <a:buNone/>
              </a:pPr>
              <a:r>
                <a:t/>
              </a:r>
              <a:endParaRPr b="0" i="0" sz="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1739250" y="1145425"/>
              <a:ext cx="338700" cy="400200"/>
            </a:xfrm>
            <a:prstGeom prst="rect">
              <a:avLst/>
            </a:prstGeom>
            <a:solidFill>
              <a:srgbClr val="FF6B08"/>
            </a:solidFill>
            <a:ln>
              <a:noFill/>
            </a:ln>
          </p:spPr>
          <p:txBody>
            <a:bodyPr anchorCtr="0" anchor="ctr" bIns="57250" lIns="57250" spcFirstLastPara="1" rIns="57250" wrap="square" tIns="57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1"/>
                <a:buFont typeface="Arial"/>
                <a:buNone/>
              </a:pPr>
              <a:r>
                <a:rPr lang="en-GB" sz="1878">
                  <a:solidFill>
                    <a:srgbClr val="FFFFF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-</a:t>
              </a:r>
              <a:endParaRPr b="0" i="0" sz="1878" u="none" cap="none" strike="noStrik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946566" y="2781226"/>
            <a:ext cx="3867406" cy="356400"/>
            <a:chOff x="2417975" y="1093600"/>
            <a:chExt cx="5120357" cy="540000"/>
          </a:xfrm>
        </p:grpSpPr>
        <p:sp>
          <p:nvSpPr>
            <p:cNvPr id="99" name="Google Shape;99;p14"/>
            <p:cNvSpPr/>
            <p:nvPr/>
          </p:nvSpPr>
          <p:spPr>
            <a:xfrm>
              <a:off x="2417975" y="1093600"/>
              <a:ext cx="5096100" cy="540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FF6B0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4"/>
            <p:cNvSpPr txBox="1"/>
            <p:nvPr/>
          </p:nvSpPr>
          <p:spPr>
            <a:xfrm rot="405">
              <a:off x="2442232" y="1094658"/>
              <a:ext cx="5096100" cy="53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u="sng">
                  <a:solidFill>
                    <a:schemeClr val="hlink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action="ppaction://hlinksldjump" r:id="rId13"/>
                </a:rPr>
                <a:t>Conclusions</a:t>
              </a:r>
              <a:endParaRPr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420807" y="2769714"/>
            <a:ext cx="426928" cy="356400"/>
            <a:chOff x="1509900" y="1017325"/>
            <a:chExt cx="797400" cy="648000"/>
          </a:xfrm>
        </p:grpSpPr>
        <p:sp>
          <p:nvSpPr>
            <p:cNvPr id="102" name="Google Shape;102;p14"/>
            <p:cNvSpPr/>
            <p:nvPr/>
          </p:nvSpPr>
          <p:spPr>
            <a:xfrm>
              <a:off x="1509900" y="1017325"/>
              <a:ext cx="797400" cy="648000"/>
            </a:xfrm>
            <a:prstGeom prst="roundRect">
              <a:avLst>
                <a:gd fmla="val 16667" name="adj"/>
              </a:avLst>
            </a:prstGeom>
            <a:solidFill>
              <a:srgbClr val="FF6B08"/>
            </a:solidFill>
            <a:ln>
              <a:noFill/>
            </a:ln>
          </p:spPr>
          <p:txBody>
            <a:bodyPr anchorCtr="0" anchor="ctr" bIns="57250" lIns="57250" spcFirstLastPara="1" rIns="57250" wrap="square" tIns="57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7"/>
                <a:buFont typeface="Arial"/>
                <a:buNone/>
              </a:pPr>
              <a:r>
                <a:t/>
              </a:r>
              <a:endParaRPr b="0" i="0" sz="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1739250" y="1145425"/>
              <a:ext cx="338700" cy="400200"/>
            </a:xfrm>
            <a:prstGeom prst="rect">
              <a:avLst/>
            </a:prstGeom>
            <a:solidFill>
              <a:srgbClr val="FF6B08"/>
            </a:solidFill>
            <a:ln>
              <a:noFill/>
            </a:ln>
          </p:spPr>
          <p:txBody>
            <a:bodyPr anchorCtr="0" anchor="ctr" bIns="57250" lIns="57250" spcFirstLastPara="1" rIns="57250" wrap="square" tIns="57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1"/>
                <a:buFont typeface="Arial"/>
                <a:buNone/>
              </a:pPr>
              <a:r>
                <a:rPr lang="en-GB" sz="1878">
                  <a:solidFill>
                    <a:srgbClr val="FFFFF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-</a:t>
              </a:r>
              <a:endParaRPr b="0" i="0" sz="1878" u="none" cap="none" strike="noStrik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946566" y="3217926"/>
            <a:ext cx="3867406" cy="356400"/>
            <a:chOff x="2417975" y="1093600"/>
            <a:chExt cx="5120357" cy="540000"/>
          </a:xfrm>
        </p:grpSpPr>
        <p:sp>
          <p:nvSpPr>
            <p:cNvPr id="105" name="Google Shape;105;p14"/>
            <p:cNvSpPr/>
            <p:nvPr/>
          </p:nvSpPr>
          <p:spPr>
            <a:xfrm>
              <a:off x="2417975" y="1093600"/>
              <a:ext cx="5096100" cy="540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FF6B0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4"/>
            <p:cNvSpPr txBox="1"/>
            <p:nvPr/>
          </p:nvSpPr>
          <p:spPr>
            <a:xfrm rot="405">
              <a:off x="2442232" y="1094658"/>
              <a:ext cx="5096100" cy="53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u="sng">
                  <a:solidFill>
                    <a:schemeClr val="hlink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action="ppaction://hlinksldjump" r:id="rId14"/>
                </a:rPr>
                <a:t>Insights </a:t>
              </a:r>
              <a:endParaRPr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07" name="Google Shape;107;p14"/>
          <p:cNvGrpSpPr/>
          <p:nvPr/>
        </p:nvGrpSpPr>
        <p:grpSpPr>
          <a:xfrm>
            <a:off x="420807" y="3199374"/>
            <a:ext cx="426928" cy="356400"/>
            <a:chOff x="1509900" y="1017325"/>
            <a:chExt cx="797400" cy="648000"/>
          </a:xfrm>
        </p:grpSpPr>
        <p:sp>
          <p:nvSpPr>
            <p:cNvPr id="108" name="Google Shape;108;p14"/>
            <p:cNvSpPr/>
            <p:nvPr/>
          </p:nvSpPr>
          <p:spPr>
            <a:xfrm>
              <a:off x="1509900" y="1017325"/>
              <a:ext cx="797400" cy="648000"/>
            </a:xfrm>
            <a:prstGeom prst="roundRect">
              <a:avLst>
                <a:gd fmla="val 16667" name="adj"/>
              </a:avLst>
            </a:prstGeom>
            <a:solidFill>
              <a:srgbClr val="FF6B08"/>
            </a:solidFill>
            <a:ln>
              <a:noFill/>
            </a:ln>
          </p:spPr>
          <p:txBody>
            <a:bodyPr anchorCtr="0" anchor="ctr" bIns="57250" lIns="57250" spcFirstLastPara="1" rIns="57250" wrap="square" tIns="57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7"/>
                <a:buFont typeface="Arial"/>
                <a:buNone/>
              </a:pPr>
              <a:r>
                <a:t/>
              </a:r>
              <a:endParaRPr b="0" i="0" sz="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4"/>
            <p:cNvSpPr txBox="1"/>
            <p:nvPr/>
          </p:nvSpPr>
          <p:spPr>
            <a:xfrm>
              <a:off x="1739250" y="1145425"/>
              <a:ext cx="338700" cy="400200"/>
            </a:xfrm>
            <a:prstGeom prst="rect">
              <a:avLst/>
            </a:prstGeom>
            <a:solidFill>
              <a:srgbClr val="FF6B08"/>
            </a:solidFill>
            <a:ln>
              <a:noFill/>
            </a:ln>
          </p:spPr>
          <p:txBody>
            <a:bodyPr anchorCtr="0" anchor="ctr" bIns="57250" lIns="57250" spcFirstLastPara="1" rIns="57250" wrap="square" tIns="57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1"/>
                <a:buFont typeface="Arial"/>
                <a:buNone/>
              </a:pPr>
              <a:r>
                <a:rPr lang="en-GB" sz="1878">
                  <a:solidFill>
                    <a:srgbClr val="FFFFF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-</a:t>
              </a:r>
              <a:endParaRPr b="0" i="0" sz="1878" u="none" cap="none" strike="noStrik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grpSp>
        <p:nvGrpSpPr>
          <p:cNvPr id="110" name="Google Shape;110;p14"/>
          <p:cNvGrpSpPr/>
          <p:nvPr/>
        </p:nvGrpSpPr>
        <p:grpSpPr>
          <a:xfrm>
            <a:off x="946566" y="3654626"/>
            <a:ext cx="3867406" cy="356400"/>
            <a:chOff x="2417975" y="1093600"/>
            <a:chExt cx="5120357" cy="540000"/>
          </a:xfrm>
        </p:grpSpPr>
        <p:sp>
          <p:nvSpPr>
            <p:cNvPr id="111" name="Google Shape;111;p14"/>
            <p:cNvSpPr/>
            <p:nvPr/>
          </p:nvSpPr>
          <p:spPr>
            <a:xfrm>
              <a:off x="2417975" y="1093600"/>
              <a:ext cx="5096100" cy="540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FF6B0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 txBox="1"/>
            <p:nvPr/>
          </p:nvSpPr>
          <p:spPr>
            <a:xfrm rot="405">
              <a:off x="2442232" y="1094658"/>
              <a:ext cx="5096100" cy="53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u="sng">
                  <a:solidFill>
                    <a:schemeClr val="hlink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action="ppaction://hlinksldjump" r:id="rId15"/>
                </a:rPr>
                <a:t>Recommendations</a:t>
              </a:r>
              <a:endParaRPr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13" name="Google Shape;113;p14"/>
          <p:cNvGrpSpPr/>
          <p:nvPr/>
        </p:nvGrpSpPr>
        <p:grpSpPr>
          <a:xfrm>
            <a:off x="946566" y="4091326"/>
            <a:ext cx="3867406" cy="356400"/>
            <a:chOff x="2417975" y="1093600"/>
            <a:chExt cx="5120357" cy="540000"/>
          </a:xfrm>
        </p:grpSpPr>
        <p:sp>
          <p:nvSpPr>
            <p:cNvPr id="114" name="Google Shape;114;p14"/>
            <p:cNvSpPr/>
            <p:nvPr/>
          </p:nvSpPr>
          <p:spPr>
            <a:xfrm>
              <a:off x="2417975" y="1093600"/>
              <a:ext cx="5096100" cy="5400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FF6B0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4"/>
            <p:cNvSpPr txBox="1"/>
            <p:nvPr/>
          </p:nvSpPr>
          <p:spPr>
            <a:xfrm rot="405">
              <a:off x="2442232" y="1094658"/>
              <a:ext cx="5096100" cy="53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GB" u="sng">
                  <a:solidFill>
                    <a:schemeClr val="hlink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  <a:hlinkClick action="ppaction://hlinksldjump" r:id="rId16"/>
                </a:rPr>
                <a:t>Thank you for your attention.</a:t>
              </a:r>
              <a:endParaRPr>
                <a:solidFill>
                  <a:srgbClr val="0097A7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16" name="Google Shape;116;p14"/>
          <p:cNvGrpSpPr/>
          <p:nvPr/>
        </p:nvGrpSpPr>
        <p:grpSpPr>
          <a:xfrm>
            <a:off x="420807" y="3654614"/>
            <a:ext cx="426928" cy="356400"/>
            <a:chOff x="1509900" y="1017325"/>
            <a:chExt cx="797400" cy="648000"/>
          </a:xfrm>
        </p:grpSpPr>
        <p:sp>
          <p:nvSpPr>
            <p:cNvPr id="117" name="Google Shape;117;p14"/>
            <p:cNvSpPr/>
            <p:nvPr/>
          </p:nvSpPr>
          <p:spPr>
            <a:xfrm>
              <a:off x="1509900" y="1017325"/>
              <a:ext cx="797400" cy="648000"/>
            </a:xfrm>
            <a:prstGeom prst="roundRect">
              <a:avLst>
                <a:gd fmla="val 16667" name="adj"/>
              </a:avLst>
            </a:prstGeom>
            <a:solidFill>
              <a:srgbClr val="FF6B08"/>
            </a:solidFill>
            <a:ln>
              <a:noFill/>
            </a:ln>
          </p:spPr>
          <p:txBody>
            <a:bodyPr anchorCtr="0" anchor="ctr" bIns="57250" lIns="57250" spcFirstLastPara="1" rIns="57250" wrap="square" tIns="57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7"/>
                <a:buFont typeface="Arial"/>
                <a:buNone/>
              </a:pPr>
              <a:r>
                <a:t/>
              </a:r>
              <a:endParaRPr b="0" i="0" sz="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4"/>
            <p:cNvSpPr txBox="1"/>
            <p:nvPr/>
          </p:nvSpPr>
          <p:spPr>
            <a:xfrm>
              <a:off x="1739250" y="1145425"/>
              <a:ext cx="338700" cy="400200"/>
            </a:xfrm>
            <a:prstGeom prst="rect">
              <a:avLst/>
            </a:prstGeom>
            <a:solidFill>
              <a:srgbClr val="FF6B08"/>
            </a:solidFill>
            <a:ln>
              <a:noFill/>
            </a:ln>
          </p:spPr>
          <p:txBody>
            <a:bodyPr anchorCtr="0" anchor="ctr" bIns="57250" lIns="57250" spcFirstLastPara="1" rIns="57250" wrap="square" tIns="57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1"/>
                <a:buFont typeface="Arial"/>
                <a:buNone/>
              </a:pPr>
              <a:r>
                <a:rPr lang="en-GB" sz="1878">
                  <a:solidFill>
                    <a:srgbClr val="FFFFF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-</a:t>
              </a:r>
              <a:endParaRPr b="0" i="0" sz="1878" u="none" cap="none" strike="noStrik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grpSp>
        <p:nvGrpSpPr>
          <p:cNvPr id="119" name="Google Shape;119;p14"/>
          <p:cNvGrpSpPr/>
          <p:nvPr/>
        </p:nvGrpSpPr>
        <p:grpSpPr>
          <a:xfrm>
            <a:off x="420807" y="4109864"/>
            <a:ext cx="426928" cy="356400"/>
            <a:chOff x="1509900" y="1017325"/>
            <a:chExt cx="797400" cy="648000"/>
          </a:xfrm>
        </p:grpSpPr>
        <p:sp>
          <p:nvSpPr>
            <p:cNvPr id="120" name="Google Shape;120;p14"/>
            <p:cNvSpPr/>
            <p:nvPr/>
          </p:nvSpPr>
          <p:spPr>
            <a:xfrm>
              <a:off x="1509900" y="1017325"/>
              <a:ext cx="797400" cy="648000"/>
            </a:xfrm>
            <a:prstGeom prst="roundRect">
              <a:avLst>
                <a:gd fmla="val 16667" name="adj"/>
              </a:avLst>
            </a:prstGeom>
            <a:solidFill>
              <a:srgbClr val="FF6B08"/>
            </a:solidFill>
            <a:ln>
              <a:noFill/>
            </a:ln>
          </p:spPr>
          <p:txBody>
            <a:bodyPr anchorCtr="0" anchor="ctr" bIns="57250" lIns="57250" spcFirstLastPara="1" rIns="57250" wrap="square" tIns="57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77"/>
                <a:buFont typeface="Arial"/>
                <a:buNone/>
              </a:pPr>
              <a:r>
                <a:t/>
              </a:r>
              <a:endParaRPr b="0" i="0" sz="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4"/>
            <p:cNvSpPr txBox="1"/>
            <p:nvPr/>
          </p:nvSpPr>
          <p:spPr>
            <a:xfrm>
              <a:off x="1739250" y="1145425"/>
              <a:ext cx="338700" cy="400200"/>
            </a:xfrm>
            <a:prstGeom prst="rect">
              <a:avLst/>
            </a:prstGeom>
            <a:solidFill>
              <a:srgbClr val="FF6B08"/>
            </a:solidFill>
            <a:ln>
              <a:noFill/>
            </a:ln>
          </p:spPr>
          <p:txBody>
            <a:bodyPr anchorCtr="0" anchor="ctr" bIns="57250" lIns="57250" spcFirstLastPara="1" rIns="57250" wrap="square" tIns="57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1"/>
                <a:buFont typeface="Arial"/>
                <a:buNone/>
              </a:pPr>
              <a:r>
                <a:rPr lang="en-GB" sz="1878">
                  <a:solidFill>
                    <a:srgbClr val="FFFFF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-</a:t>
              </a:r>
              <a:endParaRPr b="0" i="0" sz="1878" u="none" cap="none" strike="noStrik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 txBox="1"/>
          <p:nvPr>
            <p:ph type="title"/>
          </p:nvPr>
        </p:nvSpPr>
        <p:spPr>
          <a:xfrm>
            <a:off x="311700" y="1330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000000"/>
                </a:solidFill>
              </a:rPr>
              <a:t>Description of project “Revenue metrics”</a:t>
            </a:r>
            <a:endParaRPr b="1" sz="3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0000"/>
              </a:solidFill>
            </a:endParaRPr>
          </a:p>
        </p:txBody>
      </p:sp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311700" y="1914475"/>
            <a:ext cx="8520600" cy="27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2000">
                <a:solidFill>
                  <a:srgbClr val="351C75"/>
                </a:solidFill>
              </a:rPr>
              <a:t>Create a dashboard for analyzing cash inflows on a project. With its help, (imaginary) product managers will track the dynamics of changes in cash inflows and perform a top-level analysis of the factors of these changes. Calculate the necessary economic metrics and create an interactive dashboard in Tableau Public.</a:t>
            </a:r>
            <a:endParaRPr b="1" sz="2000">
              <a:solidFill>
                <a:srgbClr val="351C75"/>
              </a:solidFill>
            </a:endParaRPr>
          </a:p>
        </p:txBody>
      </p:sp>
      <p:pic>
        <p:nvPicPr>
          <p:cNvPr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051" y="4689550"/>
            <a:ext cx="789525" cy="23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idx="1" type="body"/>
          </p:nvPr>
        </p:nvSpPr>
        <p:spPr>
          <a:xfrm>
            <a:off x="311700" y="1914475"/>
            <a:ext cx="8520600" cy="27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351C75"/>
                </a:solidFill>
              </a:rPr>
              <a:t>DB Beaver - for working with the database, data unloading.</a:t>
            </a:r>
            <a:endParaRPr b="1" sz="2000">
              <a:solidFill>
                <a:srgbClr val="351C75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351C75"/>
                </a:solidFill>
              </a:rPr>
              <a:t>Postgre SQL - aggregation, metric calculation.</a:t>
            </a:r>
            <a:endParaRPr b="1" sz="2000">
              <a:solidFill>
                <a:srgbClr val="351C75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2000">
                <a:solidFill>
                  <a:srgbClr val="351C75"/>
                </a:solidFill>
              </a:rPr>
              <a:t>Tableau Public - visualization, dashboard.</a:t>
            </a:r>
            <a:endParaRPr b="1" sz="2000">
              <a:solidFill>
                <a:srgbClr val="351C75"/>
              </a:solidFill>
            </a:endParaRPr>
          </a:p>
        </p:txBody>
      </p:sp>
      <p:sp>
        <p:nvSpPr>
          <p:cNvPr id="134" name="Google Shape;134;p16"/>
          <p:cNvSpPr txBox="1"/>
          <p:nvPr>
            <p:ph type="title"/>
          </p:nvPr>
        </p:nvSpPr>
        <p:spPr>
          <a:xfrm>
            <a:off x="311700" y="1330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000000"/>
                </a:solidFill>
              </a:rPr>
              <a:t>Technology stack</a:t>
            </a:r>
            <a:endParaRPr b="1" sz="3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0000"/>
              </a:solidFill>
            </a:endParaRPr>
          </a:p>
        </p:txBody>
      </p:sp>
      <p:pic>
        <p:nvPicPr>
          <p:cNvPr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051" y="4689550"/>
            <a:ext cx="789525" cy="23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311700" y="1330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000000"/>
                </a:solidFill>
              </a:rPr>
              <a:t>Challenges and solutions</a:t>
            </a:r>
            <a:endParaRPr b="1" sz="3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00000"/>
              </a:solidFill>
            </a:endParaRPr>
          </a:p>
        </p:txBody>
      </p:sp>
      <p:sp>
        <p:nvSpPr>
          <p:cNvPr id="141" name="Google Shape;141;p17"/>
          <p:cNvSpPr txBox="1"/>
          <p:nvPr>
            <p:ph idx="1" type="body"/>
          </p:nvPr>
        </p:nvSpPr>
        <p:spPr>
          <a:xfrm>
            <a:off x="311700" y="1914475"/>
            <a:ext cx="8520600" cy="27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51C75"/>
                </a:solidFill>
              </a:rPr>
              <a:t>📉 Problem: incomplete monthly data → solved by generating a calendar in SQL.</a:t>
            </a:r>
            <a:endParaRPr sz="1600">
              <a:solidFill>
                <a:srgbClr val="351C75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51C75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51C75"/>
                </a:solidFill>
              </a:rPr>
              <a:t>🔄 Problem: defining churn → implemented using LAG() and CASE.</a:t>
            </a:r>
            <a:endParaRPr sz="1600">
              <a:solidFill>
                <a:srgbClr val="351C75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51C75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rgbClr val="351C75"/>
                </a:solidFill>
              </a:rPr>
              <a:t>🧩 Problem: merging user attributes → done using LEFT JOIN on the games_paid_users table.</a:t>
            </a:r>
            <a:endParaRPr sz="1600">
              <a:solidFill>
                <a:srgbClr val="351C75"/>
              </a:solidFill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051" y="4689550"/>
            <a:ext cx="789525" cy="23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6551" y="4704790"/>
            <a:ext cx="789525" cy="23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>
            <p:ph type="title"/>
          </p:nvPr>
        </p:nvSpPr>
        <p:spPr>
          <a:xfrm>
            <a:off x="8393600" y="4354400"/>
            <a:ext cx="575400" cy="3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000000"/>
                </a:solidFill>
              </a:rPr>
              <a:t>REVENUE METRICS</a:t>
            </a:r>
            <a:endParaRPr b="1" sz="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311700" y="67553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/>
              <a:t>Conclusions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311700" y="1248225"/>
            <a:ext cx="8520600" cy="28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351C75"/>
                </a:solidFill>
              </a:rPr>
              <a:t>The dashboard shows a steady growth in key metrics - revenue and number of paid users during 2022. During the analyzed period, total revenue amounted to $63,145, generated by 383 paid users.</a:t>
            </a:r>
            <a:endParaRPr b="1" sz="1600">
              <a:solidFill>
                <a:srgbClr val="351C75"/>
              </a:solidFill>
            </a:endParaRPr>
          </a:p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351C75"/>
                </a:solidFill>
              </a:rPr>
              <a:t>The main increase was provided by recurring payments, not new users, which indicates effective monetization. The average user life cycle is 98 days, the average LTV is $165, which is a stable result for a product from the gaming sector. Overall, the business shows healthy dynamics with a controlled level of customer churn. The positive trend of Monthly Recurring Revenue (MRR) - confirms the healthy development of the product. Revenue Churn Rate fluctuates, but remains within controlled limits (&lt;25%), which is an acceptable level for the gaming industry.</a:t>
            </a:r>
            <a:endParaRPr b="1" sz="1600">
              <a:solidFill>
                <a:srgbClr val="351C75"/>
              </a:solidFill>
            </a:endParaRPr>
          </a:p>
        </p:txBody>
      </p:sp>
      <p:pic>
        <p:nvPicPr>
          <p:cNvPr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051" y="4689550"/>
            <a:ext cx="789525" cy="23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311700" y="67553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/>
              <a:t>Insights 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pic>
        <p:nvPicPr>
          <p:cNvPr id="161" name="Google Shape;16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051" y="4689550"/>
            <a:ext cx="789525" cy="23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>
            <p:ph idx="1" type="body"/>
          </p:nvPr>
        </p:nvSpPr>
        <p:spPr>
          <a:xfrm>
            <a:off x="311700" y="1248225"/>
            <a:ext cx="8520600" cy="3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b="1" lang="en-GB" sz="1600">
                <a:solidFill>
                  <a:srgbClr val="351C75"/>
                </a:solidFill>
              </a:rPr>
              <a:t>Users aged 18-24 generate the highest share of revenue, but 14-17 year olds have the highest LTV - they are the most profitable when retained.</a:t>
            </a:r>
            <a:endParaRPr b="1" sz="1600">
              <a:solidFill>
                <a:srgbClr val="351C75"/>
              </a:solidFill>
            </a:endParaRPr>
          </a:p>
          <a:p>
            <a:pPr indent="-330200" lvl="0" marL="4572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b="1" lang="en-GB" sz="1600">
                <a:solidFill>
                  <a:srgbClr val="351C75"/>
                </a:solidFill>
              </a:rPr>
              <a:t>Expansion MRR consistently exceeds Contraction MRR, meaning the product generates net growth even in the presence of churn.</a:t>
            </a:r>
            <a:endParaRPr b="1" sz="1600">
              <a:solidFill>
                <a:srgbClr val="351C75"/>
              </a:solidFill>
            </a:endParaRPr>
          </a:p>
          <a:p>
            <a:pPr indent="-330200" lvl="0" marL="4572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b="1" lang="en-GB" sz="1600">
                <a:solidFill>
                  <a:srgbClr val="351C75"/>
                </a:solidFill>
              </a:rPr>
              <a:t>The largest user churn was observed in September 2022 - possibly due to product updates or external factors.</a:t>
            </a:r>
            <a:endParaRPr b="1" sz="1600">
              <a:solidFill>
                <a:srgbClr val="351C75"/>
              </a:solidFill>
            </a:endParaRPr>
          </a:p>
          <a:p>
            <a:pPr indent="-330200" lvl="0" marL="4572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b="1" lang="en-GB" sz="1600">
                <a:solidFill>
                  <a:srgbClr val="351C75"/>
                </a:solidFill>
              </a:rPr>
              <a:t>Gamers aged 25-34 show the longest lifecycle (LT &gt; 90 days), so this is the most stable audience with high loyalty.</a:t>
            </a:r>
            <a:endParaRPr b="1" sz="1600">
              <a:solidFill>
                <a:srgbClr val="351C75"/>
              </a:solidFill>
            </a:endParaRPr>
          </a:p>
          <a:p>
            <a:pPr indent="-330200" lvl="0" marL="4572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b="1" lang="en-GB" sz="1600">
                <a:solidFill>
                  <a:srgbClr val="351C75"/>
                </a:solidFill>
              </a:rPr>
              <a:t>The younger audience provides volume, the older - quality of payments, which opens up the potential for segmented monetization.</a:t>
            </a:r>
            <a:endParaRPr b="1" sz="1600">
              <a:solidFill>
                <a:srgbClr val="351C75"/>
              </a:solidFill>
            </a:endParaRPr>
          </a:p>
          <a:p>
            <a:pPr indent="-330200" lvl="0" marL="4572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b="1" lang="en-GB" sz="1600">
                <a:solidFill>
                  <a:srgbClr val="351C75"/>
                </a:solidFill>
              </a:rPr>
              <a:t>Game 3 - has the largest number of paying users and high LTV among different age groups.</a:t>
            </a:r>
            <a:endParaRPr b="1" sz="16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311700" y="67553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/>
              <a:t>Recommendations</a:t>
            </a:r>
            <a:endParaRPr b="1" sz="3000"/>
          </a:p>
        </p:txBody>
      </p:sp>
      <p:sp>
        <p:nvSpPr>
          <p:cNvPr id="168" name="Google Shape;168;p21"/>
          <p:cNvSpPr txBox="1"/>
          <p:nvPr>
            <p:ph idx="1" type="body"/>
          </p:nvPr>
        </p:nvSpPr>
        <p:spPr>
          <a:xfrm>
            <a:off x="311700" y="1248225"/>
            <a:ext cx="8520600" cy="28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b="1" lang="en-GB" sz="1600">
                <a:solidFill>
                  <a:srgbClr val="351C75"/>
                </a:solidFill>
              </a:rPr>
              <a:t>Focus on retaining younger users (14-24 years old), who have high LTV potential, through bonuses, personalized promotions and social mechanics.</a:t>
            </a:r>
            <a:endParaRPr b="1" sz="1600">
              <a:solidFill>
                <a:srgbClr val="351C75"/>
              </a:solidFill>
            </a:endParaRPr>
          </a:p>
          <a:p>
            <a:pPr indent="-330200" lvl="0" marL="4572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b="1" lang="en-GB" sz="1600">
                <a:solidFill>
                  <a:srgbClr val="351C75"/>
                </a:solidFill>
              </a:rPr>
              <a:t>Optimize the monetization model for stable players (25-34 years old), through personalized offers or subscriptions.</a:t>
            </a:r>
            <a:endParaRPr b="1" sz="1600">
              <a:solidFill>
                <a:srgbClr val="351C75"/>
              </a:solidFill>
            </a:endParaRPr>
          </a:p>
          <a:p>
            <a:pPr indent="-330200" lvl="0" marL="4572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b="1" lang="en-GB" sz="1600">
                <a:solidFill>
                  <a:srgbClr val="351C75"/>
                </a:solidFill>
              </a:rPr>
              <a:t>Analyze the increase in churn rate at the end of the year - seasonal retention campaigns or UX improvements may be needed.</a:t>
            </a:r>
            <a:endParaRPr b="1" sz="1600">
              <a:solidFill>
                <a:srgbClr val="351C75"/>
              </a:solidFill>
            </a:endParaRPr>
          </a:p>
          <a:p>
            <a:pPr indent="-330200" lvl="0" marL="4572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b="1" lang="en-GB" sz="1600">
                <a:solidFill>
                  <a:srgbClr val="351C75"/>
                </a:solidFill>
              </a:rPr>
              <a:t>Use the positive dynamics of Expansion MRR as a basis for forecasting growth and setting targets for the next period.</a:t>
            </a:r>
            <a:endParaRPr b="1" sz="1600">
              <a:solidFill>
                <a:srgbClr val="351C75"/>
              </a:solidFill>
            </a:endParaRPr>
          </a:p>
          <a:p>
            <a:pPr indent="-330200" lvl="0" marL="45720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Char char="●"/>
            </a:pPr>
            <a:r>
              <a:rPr b="1" lang="en-GB" sz="1600">
                <a:solidFill>
                  <a:srgbClr val="351C75"/>
                </a:solidFill>
              </a:rPr>
              <a:t>Focus marketing on “Game 3” - as the main source of income and the best indicator of retention across all age groups.</a:t>
            </a:r>
            <a:endParaRPr b="1" sz="1600">
              <a:solidFill>
                <a:srgbClr val="351C75"/>
              </a:solidFill>
            </a:endParaRPr>
          </a:p>
        </p:txBody>
      </p:sp>
      <p:pic>
        <p:nvPicPr>
          <p:cNvPr id="169" name="Google Shape;1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051" y="4689550"/>
            <a:ext cx="789525" cy="23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6B08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311700" y="342900"/>
            <a:ext cx="8520600" cy="10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chemeClr val="lt1"/>
                </a:solidFill>
              </a:rPr>
              <a:t>Together we gnawed at this granite of science until it turned into a diamond.</a:t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id="175" name="Google Shape;1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051" y="4689550"/>
            <a:ext cx="789525" cy="23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8775" y="1797937"/>
            <a:ext cx="5566451" cy="15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>
            <p:ph type="title"/>
          </p:nvPr>
        </p:nvSpPr>
        <p:spPr>
          <a:xfrm>
            <a:off x="321225" y="3495675"/>
            <a:ext cx="8520600" cy="10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Thank you to the academy, mentors, managers, colleagues, and everyone involved in the project for an interesting start to the journey in Data Analytics.</a:t>
            </a:r>
            <a:endParaRPr b="1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